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Partidos</c:v>
                </c:pt>
              </c:strCache>
            </c:strRef>
          </c:tx>
          <c:spPr>
            <a:solidFill>
              <a:srgbClr val="1A78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8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A8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Local gana</c:v>
                  </c:pt>
                  <c:pt idx="1">
                    <c:v>Visitante gana</c:v>
                  </c:pt>
                  <c:pt idx="2">
                    <c:v>Empate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4299</c:v>
                </c:pt>
                <c:pt idx="1">
                  <c:v>2768</c:v>
                </c:pt>
                <c:pt idx="2">
                  <c:v>2313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Victorias</c:v>
                </c:pt>
              </c:strCache>
            </c:strRef>
          </c:tx>
          <c:spPr>
            <a:solidFill>
              <a:srgbClr val="1A78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Man United</c:v>
                  </c:pt>
                  <c:pt idx="1">
                    <c:v>Arsenal</c:v>
                  </c:pt>
                  <c:pt idx="2">
                    <c:v>Chelsea</c:v>
                  </c:pt>
                  <c:pt idx="3">
                    <c:v>Liverpool</c:v>
                  </c:pt>
                  <c:pt idx="4">
                    <c:v>Man City</c:v>
                  </c:pt>
                  <c:pt idx="5">
                    <c:v>Tottenham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552</c:v>
                </c:pt>
                <c:pt idx="1">
                  <c:v>534</c:v>
                </c:pt>
                <c:pt idx="2">
                  <c:v>533</c:v>
                </c:pt>
                <c:pt idx="3">
                  <c:v>530</c:v>
                </c:pt>
                <c:pt idx="4">
                  <c:v>500</c:v>
                </c:pt>
                <c:pt idx="5">
                  <c:v>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de goles</c:v>
                </c:pt>
              </c:strCache>
            </c:strRef>
          </c:tx>
          <c:spPr>
            <a:solidFill>
              <a:srgbClr val="1A78CF"/>
            </a:solidFill>
            <a:ln w="31750" cap="flat">
              <a:solidFill>
                <a:srgbClr val="1A78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8CF"/>
              </a:solidFill>
              <a:ln w="9525" cap="flat">
                <a:solidFill>
                  <a:srgbClr val="1A78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00/01</c:v>
                  </c:pt>
                  <c:pt idx="1">
                    <c:v>01/02</c:v>
                  </c:pt>
                  <c:pt idx="2">
                    <c:v>02/03</c:v>
                  </c:pt>
                  <c:pt idx="3">
                    <c:v>03/04</c:v>
                  </c:pt>
                  <c:pt idx="4">
                    <c:v>04/05</c:v>
                  </c:pt>
                  <c:pt idx="5">
                    <c:v>05/06</c:v>
                  </c:pt>
                  <c:pt idx="6">
                    <c:v>06/07</c:v>
                  </c:pt>
                  <c:pt idx="7">
                    <c:v>07/08</c:v>
                  </c:pt>
                  <c:pt idx="8">
                    <c:v>08/09</c:v>
                  </c:pt>
                  <c:pt idx="9">
                    <c:v>09/10</c:v>
                  </c:pt>
                  <c:pt idx="10">
                    <c:v>10/11</c:v>
                  </c:pt>
                  <c:pt idx="11">
                    <c:v>11/12</c:v>
                  </c:pt>
                  <c:pt idx="12">
                    <c:v>12/13</c:v>
                  </c:pt>
                  <c:pt idx="13">
                    <c:v>13/14</c:v>
                  </c:pt>
                  <c:pt idx="14">
                    <c:v>14/15</c:v>
                  </c:pt>
                  <c:pt idx="15">
                    <c:v>15/16</c:v>
                  </c:pt>
                  <c:pt idx="16">
                    <c:v>16/17</c:v>
                  </c:pt>
                  <c:pt idx="17">
                    <c:v>17/18</c:v>
                  </c:pt>
                  <c:pt idx="18">
                    <c:v>18/19</c:v>
                  </c:pt>
                  <c:pt idx="19">
                    <c:v>19/20</c:v>
                  </c:pt>
                  <c:pt idx="20">
                    <c:v>20/21</c:v>
                  </c:pt>
                  <c:pt idx="21">
                    <c:v>21/22</c:v>
                  </c:pt>
                  <c:pt idx="22">
                    <c:v>22/23</c:v>
                  </c:pt>
                  <c:pt idx="23">
                    <c:v>23/24</c:v>
                  </c:pt>
                  <c:pt idx="24">
                    <c:v>24/25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2.61</c:v>
                </c:pt>
                <c:pt idx="1">
                  <c:v>2.63</c:v>
                </c:pt>
                <c:pt idx="2">
                  <c:v>2.63</c:v>
                </c:pt>
                <c:pt idx="3">
                  <c:v>2.64</c:v>
                </c:pt>
                <c:pt idx="4">
                  <c:v>2.55</c:v>
                </c:pt>
                <c:pt idx="5">
                  <c:v>2.49</c:v>
                </c:pt>
                <c:pt idx="6">
                  <c:v>2.48</c:v>
                </c:pt>
                <c:pt idx="7">
                  <c:v>2.63</c:v>
                </c:pt>
                <c:pt idx="8">
                  <c:v>2.48</c:v>
                </c:pt>
                <c:pt idx="9">
                  <c:v>2.77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2.8</c:v>
                </c:pt>
                <c:pt idx="14">
                  <c:v>2.76</c:v>
                </c:pt>
                <c:pt idx="15">
                  <c:v>2.57</c:v>
                </c:pt>
                <c:pt idx="16">
                  <c:v>2.71</c:v>
                </c:pt>
                <c:pt idx="17">
                  <c:v>2.82</c:v>
                </c:pt>
                <c:pt idx="18">
                  <c:v>2.65</c:v>
                </c:pt>
                <c:pt idx="19">
                  <c:v>2.82</c:v>
                </c:pt>
                <c:pt idx="20">
                  <c:v>2.72</c:v>
                </c:pt>
                <c:pt idx="21">
                  <c:v>2.71</c:v>
                </c:pt>
                <c:pt idx="22">
                  <c:v>2.85</c:v>
                </c:pt>
                <c:pt idx="23">
                  <c:v>3.28</c:v>
                </c:pt>
                <c:pt idx="24">
                  <c:v>2.98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Diferencia tiros al arco</c:v>
                </c:pt>
              </c:strCache>
            </c:strRef>
          </c:tx>
          <c:spPr>
            <a:solidFill>
              <a:srgbClr val="1A78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8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A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Local gana</c:v>
                  </c:pt>
                  <c:pt idx="1">
                    <c:v>Empate</c:v>
                  </c:pt>
                  <c:pt idx="2">
                    <c:v>Visitante gana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3.17</c:v>
                </c:pt>
                <c:pt idx="1">
                  <c:v>0.96</c:v>
                </c:pt>
                <c:pt idx="2">
                  <c:v>-1.39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Goles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Arsenal</c:v>
                  </c:pt>
                  <c:pt idx="1">
                    <c:v>Liverpool</c:v>
                  </c:pt>
                  <c:pt idx="2">
                    <c:v>Man City</c:v>
                  </c:pt>
                  <c:pt idx="3">
                    <c:v>Man United</c:v>
                  </c:pt>
                  <c:pt idx="4">
                    <c:v>Chelsea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1778</c:v>
                </c:pt>
                <c:pt idx="1">
                  <c:v>1747</c:v>
                </c:pt>
                <c:pt idx="2">
                  <c:v>1719</c:v>
                </c:pt>
                <c:pt idx="3">
                  <c:v>1704</c:v>
                </c:pt>
                <c:pt idx="4">
                  <c:v>1701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Rojas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Arsenal</c:v>
                  </c:pt>
                  <c:pt idx="1">
                    <c:v>Everton</c:v>
                  </c:pt>
                  <c:pt idx="2">
                    <c:v>Newcastle</c:v>
                  </c:pt>
                  <c:pt idx="3">
                    <c:v>Chelsea</c:v>
                  </c:pt>
                  <c:pt idx="4">
                    <c:v>Man City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79</c:v>
                </c:pt>
                <c:pt idx="2">
                  <c:v>74</c:v>
                </c:pt>
                <c:pt idx="3">
                  <c:v>68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Tarjetas Local</c:v>
                </c:pt>
              </c:strCache>
            </c:strRef>
          </c:tx>
          <c:spPr>
            <a:solidFill>
              <a:srgbClr val="1A78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Local gana</c:v>
                  </c:pt>
                  <c:pt idx="1">
                    <c:v>Empate</c:v>
                  </c:pt>
                  <c:pt idx="2">
                    <c:v>Visitante gana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1.31</c:v>
                </c:pt>
                <c:pt idx="1">
                  <c:v>1.58</c:v>
                </c:pt>
                <c:pt idx="2">
                  <c:v>1.63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Tarjetas Visitante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Local gana</c:v>
                  </c:pt>
                  <c:pt idx="1">
                    <c:v>Empate</c:v>
                  </c:pt>
                  <c:pt idx="2">
                    <c:v>Visitante gana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1.8</c:v>
                </c:pt>
                <c:pt idx="1">
                  <c:v>1.91</c:v>
                </c:pt>
                <c:pt idx="2">
                  <c:v>1.69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DB001B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0"/>
            <a:ext cx="4572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2103120"/>
            <a:ext cx="1097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ARSENAL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5C0091"/>
          </a:solidFill>
          <a:ln/>
        </p:spPr>
      </p:sp>
      <p:sp>
        <p:nvSpPr>
          <p:cNvPr id="7" name="Text 5"/>
          <p:cNvSpPr/>
          <p:nvPr/>
        </p:nvSpPr>
        <p:spPr>
          <a:xfrm rot="16200000">
            <a:off x="7818120" y="1371600"/>
            <a:ext cx="1097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PREMIER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0"/>
            <a:ext cx="484632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5070348"/>
            <a:ext cx="484632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B429"/>
                </a:solidFill>
              </a:rPr>
              <a:t>PREMIER LEAGUE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82296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Analisis 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25 Anos de Futbol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0896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</a:rPr>
              <a:t>2000 — 2025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08960" y="3566160"/>
            <a:ext cx="4389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9.380 partidos   |   22 variables   |   25 temporadas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Ciencia de Datos Aplicada al Futbol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MOTIVACION Y AUDIENCIA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El futbol genera millones de datos por partido. Sin embargo, muchas decisiones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en clubes y cuerpos tecnicos se toman de forma intuitiva, sin aprovechar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el enorme volumen de informacion disponible.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377440"/>
            <a:ext cx="2651760" cy="73152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Clubes y DT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Decisiones de fichajes y tacticas basadas en datos reales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377440"/>
            <a:ext cx="2651760" cy="73152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Analistas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Identificar patrones ocultos en 25 anos de historia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2377440"/>
            <a:ext cx="2651760" cy="73152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Fans y Medios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Entender el juego mas alla de los 90 minutos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RESUMEN DEL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46304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9.380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Partidos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146304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2011680" cy="146304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Temporadas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2011680" cy="146304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2000-2025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Periodo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Variables incluidas en el dataset: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Fecha y temporada  |  Equipos local y visitante  |  Goles (tiempo completo y medio tiempo)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Tiros totales y al arco  |  Corners  |  Faltas  |  Tarjetas amarillas y rojas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Resultados: H = Local gana  |  A = Visitante gana  |  D = Empate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PREGUNTAS E HIPOTESIS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9436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Los equipos locales tienen ventaja significativa sobre los visitantes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10512"/>
            <a:ext cx="59436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1051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9019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Mayor cantidad de tiros al arco se asocia con mayor probabilidad de ganar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9464"/>
            <a:ext cx="59436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6946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Ciertos equipos dominaron la liga de forma consistente durante decadas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28416"/>
            <a:ext cx="59436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28416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El promedio de goles evolucionó a lo largo del tiempo reflejando cambios tacticos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87368"/>
            <a:ext cx="59436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8736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178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Los equipos mas agresivos (mas tarjetas) no necesariamente obtienen peores resultados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H1: LOCAL vs VISITANTE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3017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234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8CF"/>
                </a:solidFill>
              </a:rPr>
              <a:t>45.8%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7607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Gana el local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3017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29.5%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Gana el visitante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749040"/>
            <a:ext cx="3017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24.7%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072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Empate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3931920"/>
            <a:ext cx="301752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H1 CONFIRMADA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H3: TOP EQUIPOS CON MAS VICTORIAS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H4: EVOLUCION DE GOLES POR TEMPORADA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6217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188720"/>
            <a:ext cx="1920240" cy="118872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3.28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Pico historico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2023/24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0" y="26517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2.45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85800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Minimo historico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2007/08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4114800"/>
            <a:ext cx="192024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H4 CONFIRMADA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H2: TIROS AL ARCO vs RESULTADO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Cuando el local gana, supera 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visitante en promedio de tiros al arco.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0" y="2468880"/>
            <a:ext cx="2834640" cy="1097280"/>
          </a:xfrm>
          <a:prstGeom prst="rect">
            <a:avLst/>
          </a:prstGeom>
          <a:solidFill>
            <a:srgbClr val="1A78C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2514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+3.17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tiros mas del local al ganar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4114800"/>
            <a:ext cx="283464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H2 CONFIRMADA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GOLES Y TARJETAS ROJAS POR EQUIPO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 5 - Goles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 5 - Tarjetas Rojas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3716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H5: TARJETAS AMARILLAS vs RESULTADO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Hallazgo clave: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6459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visitante siempre acumula mas tarjetas amarillas, sin importar el resultado.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Sugiere una estrategia mas agresiva o desesperada fuera de casa.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3657600"/>
            <a:ext cx="283464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3657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H5 CONFIRMADA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 Y CONCLUSIONES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Jugar de local es ventaja real: el local gana el 45.8% vs 29.5% del visitante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642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556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Tiros al arco predicen el resultado: +3.17 tiros cuando gana el local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22576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225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Man United, Arsenal, Chelsea y Liverpool dominaron con 530+ victorias cada uno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80944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80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07238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Los goles aumentaron en los ultimos anos, con pico historico en 2023/24 (3.28)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39312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39312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393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73075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El visitante siempre recibe mas tarjetas — estrategia agresiva fuera de casa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97680"/>
            <a:ext cx="502920" cy="5669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976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3891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Arsenal: lider en goles (1778) y tarjetas rojas (81) — perfil ofensivo y agresivo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GRACIAS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8FA"/>
                </a:solidFill>
              </a:rPr>
              <a:t>25 anos de Premier League resumidos en datos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Dataset: English Premier League Match Data 2000-2025  |  Fuente: Kaggle / football-data.co.uk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Herramientas: Python  |  Pandas  |  Matplotlib  |  Seaborn  |  Google Colab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Premier League 2000-2025</dc:title>
  <dc:subject>PptxGenJS Presentation</dc:subject>
  <dc:creator>PptxGenJS</dc:creator>
  <cp:lastModifiedBy>PptxGenJS</cp:lastModifiedBy>
  <cp:revision>1</cp:revision>
  <dcterms:created xsi:type="dcterms:W3CDTF">2026-03-21T23:30:39Z</dcterms:created>
  <dcterms:modified xsi:type="dcterms:W3CDTF">2026-03-21T23:30:39Z</dcterms:modified>
</cp:coreProperties>
</file>