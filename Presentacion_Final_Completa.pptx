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2286000" y="182880"/>
            <a:ext cx="45720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28600" y="137160"/>
            <a:ext cx="731520" cy="7315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183880" y="137160"/>
            <a:ext cx="731520" cy="731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0B429"/>
                </a:solidFill>
              </a:rPr>
              <a:t>PREMIER LEAGUE 2000-2025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Análisis de Datos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 Machine Learning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A"/>
                </a:solidFill>
              </a:rPr>
              <a:t>Entrega Final — Data Science II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6576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Ernesto Uriburu  |  Data Science II  |  2026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657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GitHub: github.com/ejmuriburu/premier-league-analisis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Estructura de la Presentación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65760" y="118872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365760" y="1188720"/>
            <a:ext cx="1828800" cy="137160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4"/>
          <p:cNvSpPr/>
          <p:nvPr/>
        </p:nvSpPr>
        <p:spPr>
          <a:xfrm>
            <a:off x="3657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PARTE 1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2377440" y="13258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Análisis Exploratorio (EDA)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2377440" y="1828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Motivación, dataset, hipótesis y visualizaciones históricas 2000-2025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365760" y="2834640"/>
            <a:ext cx="1828800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9"/>
          <p:cNvSpPr/>
          <p:nvPr/>
        </p:nvSpPr>
        <p:spPr>
          <a:xfrm>
            <a:off x="3657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PARTE 2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377440" y="2971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2377440" y="34747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Ingeniería de atributos, modelos de clasificación y optimización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Dataset: 9.380 partidos | 22 variables | 25 temporadas | Fuente: Kaggle + football-data.org API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PARTE 1 — Motivación y Audiencia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El fútbol genera millones de datos por partido. ¿Qué patrones se esconden en 25 años de Premier League?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365760" y="1920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1" name="Text 5"/>
          <p:cNvSpPr/>
          <p:nvPr/>
        </p:nvSpPr>
        <p:spPr>
          <a:xfrm>
            <a:off x="5029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Clubes y DT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0292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Decisiones de fichajes y tácticas basadas en datos reales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200400" y="1920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5" name="Text 9"/>
          <p:cNvSpPr/>
          <p:nvPr/>
        </p:nvSpPr>
        <p:spPr>
          <a:xfrm>
            <a:off x="33375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Analistas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33756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Identificar patrones en 25 años de historia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035040" y="19202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9" name="Text 13"/>
          <p:cNvSpPr/>
          <p:nvPr/>
        </p:nvSpPr>
        <p:spPr>
          <a:xfrm>
            <a:off x="61722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Fans y Medios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7220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Entender el juego más allá de los 90 minutos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Hipótesis planteadas: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4114800"/>
            <a:ext cx="160020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3" name="Text 17"/>
          <p:cNvSpPr/>
          <p:nvPr/>
        </p:nvSpPr>
        <p:spPr>
          <a:xfrm>
            <a:off x="36576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H1: Local vs Visitante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2057400" y="4114800"/>
            <a:ext cx="160020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5" name="Text 19"/>
          <p:cNvSpPr/>
          <p:nvPr/>
        </p:nvSpPr>
        <p:spPr>
          <a:xfrm>
            <a:off x="205740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H2: Tiros al arco vs resultado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3749040" y="4114800"/>
            <a:ext cx="160020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7" name="Text 21"/>
          <p:cNvSpPr/>
          <p:nvPr/>
        </p:nvSpPr>
        <p:spPr>
          <a:xfrm>
            <a:off x="374904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H3: Equipos dominantes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5440680" y="4114800"/>
            <a:ext cx="160020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9" name="Text 23"/>
          <p:cNvSpPr/>
          <p:nvPr/>
        </p:nvSpPr>
        <p:spPr>
          <a:xfrm>
            <a:off x="544068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H4: Evolución de goles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7132320" y="4114800"/>
            <a:ext cx="1600200" cy="6400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31" name="Text 25"/>
          <p:cNvSpPr/>
          <p:nvPr/>
        </p:nvSpPr>
        <p:spPr>
          <a:xfrm>
            <a:off x="713232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H5: Tarjetas y resultado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H1: Local vs Visitante — CONFIRMADA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5486400" cy="402336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5943600" y="109728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5943600" y="1143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8CF"/>
                </a:solidFill>
              </a:rPr>
              <a:t>45.8%</a:t>
            </a:r>
            <a:endParaRPr lang="en-US" sz="2800" dirty="0"/>
          </a:p>
        </p:txBody>
      </p:sp>
      <p:sp>
        <p:nvSpPr>
          <p:cNvPr id="11" name="Text 4"/>
          <p:cNvSpPr/>
          <p:nvPr/>
        </p:nvSpPr>
        <p:spPr>
          <a:xfrm>
            <a:off x="594360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Gana local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5943600" y="228600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594360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29.5%</a:t>
            </a:r>
            <a:endParaRPr lang="en-US" sz="2800" dirty="0"/>
          </a:p>
        </p:txBody>
      </p:sp>
      <p:sp>
        <p:nvSpPr>
          <p:cNvPr id="14" name="Text 7"/>
          <p:cNvSpPr/>
          <p:nvPr/>
        </p:nvSpPr>
        <p:spPr>
          <a:xfrm>
            <a:off x="594360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Gana visitante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5943600" y="347472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5943600" y="3520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24.7%</a:t>
            </a:r>
            <a:endParaRPr lang="en-US" sz="2800" dirty="0"/>
          </a:p>
        </p:txBody>
      </p:sp>
      <p:sp>
        <p:nvSpPr>
          <p:cNvPr id="17" name="Text 10"/>
          <p:cNvSpPr/>
          <p:nvPr/>
        </p:nvSpPr>
        <p:spPr>
          <a:xfrm>
            <a:off x="5943600" y="4114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Empate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943600" y="4663440"/>
            <a:ext cx="283464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2"/>
          <p:cNvSpPr/>
          <p:nvPr/>
        </p:nvSpPr>
        <p:spPr>
          <a:xfrm>
            <a:off x="594360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H1 CONFIRMADA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H3: Equipos que dominaron la liga — CONFIRMADA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H4: Evolución de goles por temporada — CONFIRMADA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6400800" cy="402336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858000" y="1188720"/>
            <a:ext cx="1920240" cy="118872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3"/>
          <p:cNvSpPr/>
          <p:nvPr/>
        </p:nvSpPr>
        <p:spPr>
          <a:xfrm>
            <a:off x="68580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3.28</a:t>
            </a:r>
            <a:endParaRPr lang="en-US" sz="3200" dirty="0"/>
          </a:p>
        </p:txBody>
      </p:sp>
      <p:sp>
        <p:nvSpPr>
          <p:cNvPr id="11" name="Text 4"/>
          <p:cNvSpPr/>
          <p:nvPr/>
        </p:nvSpPr>
        <p:spPr>
          <a:xfrm>
            <a:off x="68580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Pico histórico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2023/24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6858000" y="2651760"/>
            <a:ext cx="192024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6"/>
          <p:cNvSpPr/>
          <p:nvPr/>
        </p:nvSpPr>
        <p:spPr>
          <a:xfrm>
            <a:off x="685800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2.45</a:t>
            </a:r>
            <a:endParaRPr lang="en-US" sz="3200" dirty="0"/>
          </a:p>
        </p:txBody>
      </p:sp>
      <p:sp>
        <p:nvSpPr>
          <p:cNvPr id="14" name="Text 7"/>
          <p:cNvSpPr/>
          <p:nvPr/>
        </p:nvSpPr>
        <p:spPr>
          <a:xfrm>
            <a:off x="685800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Mínimo histórico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2007/08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H2: Tiros al arco vs Resultado — CONFIRMADA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5486400" cy="402336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5943600" y="1371600"/>
            <a:ext cx="2834640" cy="118872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3"/>
          <p:cNvSpPr/>
          <p:nvPr/>
        </p:nvSpPr>
        <p:spPr>
          <a:xfrm>
            <a:off x="5943600" y="1417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+3.17</a:t>
            </a:r>
            <a:endParaRPr lang="en-US" sz="3400" dirty="0"/>
          </a:p>
        </p:txBody>
      </p:sp>
      <p:sp>
        <p:nvSpPr>
          <p:cNvPr id="11" name="Text 4"/>
          <p:cNvSpPr/>
          <p:nvPr/>
        </p:nvSpPr>
        <p:spPr>
          <a:xfrm>
            <a:off x="5943600" y="2057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tiros más del local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al ganar</a:t>
            </a:r>
            <a:endParaRPr lang="en-US" sz="1000" dirty="0"/>
          </a:p>
        </p:txBody>
      </p:sp>
      <p:sp>
        <p:nvSpPr>
          <p:cNvPr id="12" name="Text 5"/>
          <p:cNvSpPr/>
          <p:nvPr/>
        </p:nvSpPr>
        <p:spPr>
          <a:xfrm>
            <a:off x="594360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Los tiros al arco son un fuerte predictor del resultado del partido.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5943600" y="4663440"/>
            <a:ext cx="283464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7"/>
          <p:cNvSpPr/>
          <p:nvPr/>
        </p:nvSpPr>
        <p:spPr>
          <a:xfrm>
            <a:off x="594360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H2 CONFIRMADA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H5: Tarjetas Amarillas vs Resultado — CONFIRMADA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5669280" cy="40233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03504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Hallazgo clave:</a:t>
            </a:r>
            <a:endParaRPr lang="en-US" sz="1300" dirty="0"/>
          </a:p>
        </p:txBody>
      </p:sp>
      <p:sp>
        <p:nvSpPr>
          <p:cNvPr id="10" name="Text 3"/>
          <p:cNvSpPr/>
          <p:nvPr/>
        </p:nvSpPr>
        <p:spPr>
          <a:xfrm>
            <a:off x="6035040" y="16459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visitante siempre acumula más tarjetas sin importar el resultado. Sugiere estrategia más agresiva fuera de casa.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6035040" y="4663440"/>
            <a:ext cx="283464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5"/>
          <p:cNvSpPr/>
          <p:nvPr/>
        </p:nvSpPr>
        <p:spPr>
          <a:xfrm>
            <a:off x="603504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H5 CONFIRMADA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Enriquecimiento con API — Top 10 Goleadores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2286000" y="274320"/>
            <a:ext cx="45720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28600" y="137160"/>
            <a:ext cx="731520" cy="7315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183880" y="137160"/>
            <a:ext cx="731520" cy="731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0B429"/>
                </a:solidFill>
              </a:rPr>
              <a:t>PARTE 2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Machine Learning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Predicción de Resultados</a:t>
            </a:r>
            <a:endParaRPr lang="en-US" sz="3400" dirty="0"/>
          </a:p>
        </p:txBody>
      </p:sp>
      <p:sp>
        <p:nvSpPr>
          <p:cNvPr id="9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</a:rPr>
              <a:t>Clasificación multiclase: predecir H, D o A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6576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Random Forest  |  XGBoost  |  GridSearchCV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Ingeniería de Atributos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Se crearon 5 nuevas variables sintéticas para mejorar el poder predictivo del modelo: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65760" y="1600200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5"/>
          <p:cNvSpPr/>
          <p:nvPr/>
        </p:nvSpPr>
        <p:spPr>
          <a:xfrm>
            <a:off x="54864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DiferenciaTiros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200400" y="1673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HomeShotsOnTarget − AwayShotsOnTarget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492240" y="16733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Superioridad en precisión ofensiva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365760" y="240487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65760" y="2404872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0"/>
          <p:cNvSpPr/>
          <p:nvPr/>
        </p:nvSpPr>
        <p:spPr>
          <a:xfrm>
            <a:off x="548640" y="2478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DiferenciaCorners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200400" y="24780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HomeCorners − AwayCorners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492240" y="2478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Presión ofensiva sostenida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320954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65760" y="3209544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3282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DiferenciaFaltas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200400" y="3282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HomeFouls − AwayFouls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32826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Agresividad táctica comparada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401421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4014216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087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DiferenciaAmarillas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20040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HomeYellowCards − AwayYellowCards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92240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Disciplina táctica relativa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Total: 18 features | División: 80% train (7.504) / 20% test (1.876) | Normalización: StandardScaler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Modelos Entrenados — Matrices de Confusión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Random Forest</a:t>
            </a:r>
            <a:endParaRPr lang="en-US" sz="13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325880"/>
            <a:ext cx="4206240" cy="34747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XGBoost</a:t>
            </a:r>
            <a:endParaRPr lang="en-US" sz="13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325880"/>
            <a:ext cx="4206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Optimización y Selección del Mejor Modelo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60120"/>
            <a:ext cx="5943600" cy="40233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3093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Resultados: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6309360" y="146304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63550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63550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Acc: 0.6167  |  CV: 0.6337</a:t>
            </a: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6309360" y="246888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63550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XGBoost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35508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Acc: 0.6333  |  CV: 0.6417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309360" y="3474720"/>
            <a:ext cx="256032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63550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Opt.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35508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Acc: 0.6375  |  CV: 0.6486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309360" y="4572000"/>
            <a:ext cx="256032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3"/>
          <p:cNvSpPr/>
          <p:nvPr/>
        </p:nvSpPr>
        <p:spPr>
          <a:xfrm>
            <a:off x="630936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XGBoost Optimizado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Insights y Conclusiones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" y="73152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659368" y="73152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" y="46634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659368" y="4663440"/>
            <a:ext cx="411480" cy="41148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0" name="Text 4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60120" y="11155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Local gana 45.8% vs 29.5% visitante — ventaja de local confirmada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365760" y="16642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365760" y="1664208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4" name="Text 8"/>
          <p:cNvSpPr/>
          <p:nvPr/>
        </p:nvSpPr>
        <p:spPr>
          <a:xfrm>
            <a:off x="365760" y="16642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960120" y="17739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Tiros al arco predicen el resultado: +3.17 cuando gana el local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65760" y="23225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65760" y="2322576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18" name="Text 12"/>
          <p:cNvSpPr/>
          <p:nvPr/>
        </p:nvSpPr>
        <p:spPr>
          <a:xfrm>
            <a:off x="365760" y="23225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H3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60120" y="243230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Man United, Arsenal, Chelsea y Liverpool dominaron con 530+ victorias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29809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65760" y="2980944"/>
            <a:ext cx="502920" cy="566928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22" name="Text 16"/>
          <p:cNvSpPr/>
          <p:nvPr/>
        </p:nvSpPr>
        <p:spPr>
          <a:xfrm>
            <a:off x="365760" y="2980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60120" y="30906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Pico histórico de goles en 2023/24 con 3.28 goles por partido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3639312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639312"/>
            <a:ext cx="5029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0"/>
          <p:cNvSpPr/>
          <p:nvPr/>
        </p:nvSpPr>
        <p:spPr>
          <a:xfrm>
            <a:off x="365760" y="36393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60120" y="37490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XGBoost Optimizado predice resultados con 64% de accuracy (supera azar 33%)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5760" y="4297680"/>
            <a:ext cx="502920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0" name="Text 24"/>
          <p:cNvSpPr/>
          <p:nvPr/>
        </p:nvSpPr>
        <p:spPr>
          <a:xfrm>
            <a:off x="365760" y="42976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60120" y="44074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Haaland lidera goleadores con 22 goles — datos en tiempo real via API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3200400" y="27432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78C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28600" y="137160"/>
            <a:ext cx="731520" cy="7315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183880" y="137160"/>
            <a:ext cx="731520" cy="731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GRACIAS</a:t>
            </a:r>
            <a:endParaRPr lang="en-US" sz="5200" dirty="0"/>
          </a:p>
        </p:txBody>
      </p:sp>
      <p:sp>
        <p:nvSpPr>
          <p:cNvPr id="8" name="Text 3"/>
          <p:cNvSpPr/>
          <p:nvPr/>
        </p:nvSpPr>
        <p:spPr>
          <a:xfrm>
            <a:off x="36576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8FA"/>
                </a:solidFill>
              </a:rPr>
              <a:t>25 años de Premier League analizados con Python, EDA y Machine Learning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36576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GitHub: github.com/ejmuriburu/premier-league-analisis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576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Ernesto Uriburu  |  Data Science II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2026-05-17T18:48:57Z</dcterms:created>
  <dcterms:modified xsi:type="dcterms:W3CDTF">2026-05-17T18:48:57Z</dcterms:modified>
</cp:coreProperties>
</file>